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3"/>
    <p:sldId id="258" r:id="rId4"/>
    <p:sldId id="262" r:id="rId5"/>
    <p:sldId id="263" r:id="rId6"/>
    <p:sldId id="259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3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bpmn2petrinet2mcrl2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5440" y="2168525"/>
            <a:ext cx="10968990" cy="17233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BPMN → PNML（Web </a:t>
            </a:r>
            <a:r>
              <a:rPr lang="zh-CN" altLang="en-US">
                <a:sym typeface="+mn-ea"/>
              </a:rPr>
              <a:t>模块）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原理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在浏览器上下文中直接调用 </a:t>
            </a:r>
            <a:r>
              <a:rPr lang="en-US" altLang="zh-CN"/>
              <a:t>bpmn2petrinet.com </a:t>
            </a:r>
            <a:r>
              <a:rPr lang="zh-CN" altLang="en-US"/>
              <a:t>的 </a:t>
            </a:r>
            <a:r>
              <a:rPr lang="en-US" altLang="zh-CN"/>
              <a:t>JS </a:t>
            </a:r>
            <a:r>
              <a:rPr lang="zh-CN" altLang="en-US"/>
              <a:t>模块：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Importer：</a:t>
            </a:r>
            <a:r>
              <a:rPr lang="zh-CN" altLang="en-US"/>
              <a:t>解析 </a:t>
            </a:r>
            <a:r>
              <a:rPr lang="en-US" altLang="zh-CN"/>
              <a:t>BPMN XML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Parser：</a:t>
            </a:r>
            <a:r>
              <a:rPr lang="zh-CN" altLang="en-US"/>
              <a:t>生成 </a:t>
            </a:r>
            <a:r>
              <a:rPr lang="en-US" altLang="zh-CN"/>
              <a:t>BPMN </a:t>
            </a:r>
            <a:r>
              <a:rPr lang="zh-CN" altLang="en-US"/>
              <a:t>语义模型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Converter：</a:t>
            </a:r>
            <a:r>
              <a:rPr lang="zh-CN" altLang="en-US"/>
              <a:t>生成 </a:t>
            </a:r>
            <a:r>
              <a:rPr lang="en-US" altLang="zh-CN"/>
              <a:t>Petri Net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Exporter：</a:t>
            </a:r>
            <a:r>
              <a:rPr lang="zh-CN" altLang="en-US"/>
              <a:t>导出 </a:t>
            </a:r>
            <a:r>
              <a:rPr lang="en-US" altLang="zh-CN"/>
              <a:t>PNML </a:t>
            </a:r>
            <a:r>
              <a:rPr lang="zh-CN" altLang="en-US"/>
              <a:t>字符串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对应代码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bpmn2mcrl2_web.py → bpmn_to_pnml_via_web()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核心逻辑：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/>
              <a:t>通过 </a:t>
            </a:r>
            <a:r>
              <a:rPr lang="en-US" altLang="zh-CN"/>
              <a:t>import('/src/bpmn2petri/index.js') </a:t>
            </a:r>
            <a:r>
              <a:rPr lang="zh-CN" altLang="en-US"/>
              <a:t>加载模块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在浏览器端完成 </a:t>
            </a:r>
            <a:r>
              <a:rPr lang="en-US" altLang="zh-CN"/>
              <a:t>PNML </a:t>
            </a:r>
            <a:r>
              <a:rPr lang="zh-CN" altLang="en-US"/>
              <a:t>生成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将 </a:t>
            </a:r>
            <a:r>
              <a:rPr lang="en-US" altLang="zh-CN"/>
              <a:t>PNML </a:t>
            </a:r>
            <a:r>
              <a:rPr lang="zh-CN" altLang="en-US"/>
              <a:t>写入临时文件，再交给下一步处理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2000">
                <a:sym typeface="+mn-ea"/>
              </a:rPr>
              <a:t>bpmn to</a:t>
            </a:r>
            <a:r>
              <a:rPr lang="zh-CN" altLang="en-US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petrinet</a:t>
            </a:r>
            <a:endParaRPr lang="en-US" altLang="zh-CN" sz="2000">
              <a:sym typeface="+mn-ea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260475"/>
            <a:ext cx="9591040" cy="53943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1685" y="1644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思路</a:t>
            </a:r>
            <a:r>
              <a:rPr lang="en-US" altLang="zh-CN"/>
              <a:t>：</a:t>
            </a:r>
            <a:r>
              <a:rPr lang="zh-CN" altLang="en-US"/>
              <a:t>把 </a:t>
            </a:r>
            <a:r>
              <a:rPr lang="en-US" altLang="zh-CN"/>
              <a:t>Petri Net </a:t>
            </a:r>
            <a:r>
              <a:rPr lang="zh-CN" altLang="en-US"/>
              <a:t>编码成一个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带状态参数的 </a:t>
            </a:r>
            <a:r>
              <a:rPr lang="en-US" altLang="zh-CN"/>
              <a:t>mCRL2 </a:t>
            </a:r>
            <a:r>
              <a:rPr lang="zh-CN" altLang="en-US"/>
              <a:t>进程</a:t>
            </a:r>
            <a:endParaRPr lang="zh-CN" altLang="en-US"/>
          </a:p>
          <a:p>
            <a:r>
              <a:rPr lang="zh-CN" altLang="en-US"/>
              <a:t>详细转化</a:t>
            </a:r>
            <a:r>
              <a:rPr lang="zh-CN" altLang="en-US"/>
              <a:t>原理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05" y="1106805"/>
            <a:ext cx="5439410" cy="5013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7695" y="523240"/>
            <a:ext cx="4481195" cy="456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PNML—&gt;mCRL2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PNML → mCRL2（</a:t>
            </a:r>
            <a:r>
              <a:rPr lang="zh-CN" altLang="en-US"/>
              <a:t>本地转换）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4655" y="183673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000"/>
              </a:spcBef>
              <a:spcAft>
                <a:spcPts val="160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3.1) PNML → mCRL2 </a:t>
            </a:r>
            <a:r>
              <a:rPr lang="zh-CN" altLang="en-US" sz="1600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对照表</a:t>
            </a:r>
            <a:endParaRPr lang="zh-CN" altLang="en-US" sz="1600" b="0" i="0">
              <a:solidFill>
                <a:srgbClr val="000000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414655" y="2173922"/>
          <a:ext cx="10485120" cy="310515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310515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PNML 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元素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/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概念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含义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mCRL2 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映射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说明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&lt;place id="p"&gt;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库所（状态容器）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Place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枚举值（如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p_0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place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会被排序并重命名为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p_i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&lt;transition id="t"&gt;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变迁（动作）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动作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fire_t_k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每个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transition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生成一个动作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&lt;arc source="p" target="t"&gt;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输入弧（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守卫条件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m(p_i) &gt; 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需要足够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才能触发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&lt;arc source="t" target="p"&gt;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输出弧（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post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更新函数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m(p_i)+1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触发后向输出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place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加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&lt;initialMarking&gt;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初始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init(p_i) = 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作为初始状态定义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数量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place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上的标记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Marking = Place -&gt; Nat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用函数表示所有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变迁可发生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条件满足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(guard) -&gt; fire_t_k . P(update_t_k(m))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守卫与更新形成一步动作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92835" y="1569720"/>
            <a:ext cx="5080000" cy="20815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以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 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examples/pizza.pnml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为例，结构为：</a:t>
            </a:r>
            <a:endParaRPr lang="zh-CN" altLang="en-US" sz="1600" b="0" i="0">
              <a:solidFill>
                <a:srgbClr val="333333"/>
              </a:solidFill>
              <a:latin typeface="Helvetica Neue" panose="02000503000000020004"/>
              <a:ea typeface="Helvetica Neue" panose="02000503000000020004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Places</a:t>
            </a: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：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p_order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,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 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p_prepare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,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 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p_deliver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Transitions</a:t>
            </a: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：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t_make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,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 </a:t>
            </a: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t_ship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Arcs</a:t>
            </a: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：</a:t>
            </a:r>
            <a:endParaRPr lang="zh-CN" altLang="en-US" sz="1600" b="0" i="0">
              <a:solidFill>
                <a:srgbClr val="333333"/>
              </a:solidFill>
              <a:latin typeface="Helvetica Neue" panose="02000503000000020004"/>
              <a:ea typeface="Helvetica Neue" panose="02000503000000020004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◦"/>
            </a:pP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p_order -&gt; t_make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◦"/>
            </a:pP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t_make -&gt; p_prepare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◦"/>
            </a:pP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p_prepare -&gt; t_ship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◦"/>
            </a:pPr>
            <a:r>
              <a:rPr lang="en-US" altLang="zh-CN" sz="900" b="0" i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t_ship -&gt; p_deliver</a:t>
            </a:r>
            <a:endParaRPr lang="en-US" altLang="zh-CN" sz="900" b="0" i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>
              <a:spcBef>
                <a:spcPct val="0"/>
              </a:spcBef>
              <a:spcAft>
                <a:spcPts val="1600"/>
              </a:spcAft>
            </a:pP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在 </a:t>
            </a:r>
            <a:r>
              <a:rPr lang="en-US" altLang="zh-CN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mCRL2 </a:t>
            </a:r>
            <a:r>
              <a:rPr lang="zh-CN" altLang="en-US" sz="1600" b="0" i="0">
                <a:solidFill>
                  <a:srgbClr val="333333"/>
                </a:solidFill>
                <a:latin typeface="Helvetica Neue" panose="02000503000000020004"/>
                <a:ea typeface="Helvetica Neue" panose="02000503000000020004"/>
              </a:rPr>
              <a:t>中的具体映射（简化展示）：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1092835" y="370840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PNML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mCRL2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说明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p_order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初始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 = 1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p_prepare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初始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 = 0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p_deliver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初始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token = 0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t_make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fire_t_0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触发后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p_0-1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,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p_1+1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t_ship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fire_t_1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触发后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p_1-1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,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 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p_2+1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4655" y="1136015"/>
            <a:ext cx="547941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035" y="1018540"/>
            <a:ext cx="5989320" cy="51492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转换过程中</a:t>
            </a:r>
            <a:r>
              <a:rPr lang="en-US" altLang="zh-CN"/>
              <a:t>id</a:t>
            </a:r>
            <a:r>
              <a:rPr lang="zh-CN" altLang="en-US"/>
              <a:t>会丢失</a:t>
            </a:r>
            <a:r>
              <a:rPr lang="en-US" altLang="zh-CN"/>
              <a:t>，</a:t>
            </a:r>
            <a:r>
              <a:rPr lang="zh-CN" altLang="en-US"/>
              <a:t>如</a:t>
            </a:r>
            <a:r>
              <a:rPr lang="zh-CN" altLang="en-US"/>
              <a:t>使用</a:t>
            </a:r>
            <a:r>
              <a:rPr lang="en-US" altLang="zh-CN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sym typeface="+mn-ea"/>
              </a:rPr>
              <a:t>Marking = Place -&gt; Nat </a:t>
            </a:r>
            <a:endParaRPr lang="en-US" altLang="zh-CN">
              <a:solidFill>
                <a:srgbClr val="000000"/>
              </a:solidFill>
              <a:latin typeface="Helvetica Neue" panose="02000503000000020004"/>
              <a:ea typeface="Helvetica Neue" panose="02000503000000020004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sym typeface="+mn-ea"/>
              </a:rPr>
              <a:t>p_order</a:t>
            </a:r>
            <a:r>
              <a:rPr lang="en-US" altLang="zh-CN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 -&gt; </a:t>
            </a:r>
            <a:r>
              <a:rPr lang="en-US" altLang="zh-CN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sym typeface="+mn-ea"/>
              </a:rPr>
              <a:t>p_0</a:t>
            </a:r>
            <a:r>
              <a:rPr lang="en-US" altLang="zh-CN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 </a:t>
            </a:r>
            <a:r>
              <a:rPr lang="zh-CN" altLang="en-US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可读性变差</a:t>
            </a:r>
            <a:r>
              <a:rPr lang="en-US" altLang="zh-CN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 </a:t>
            </a:r>
            <a:r>
              <a:rPr lang="zh-CN" altLang="en-US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寻找其他方法</a:t>
            </a:r>
            <a:endParaRPr lang="zh-CN" altLang="en-US" b="0" i="0">
              <a:solidFill>
                <a:srgbClr val="000000"/>
              </a:solidFill>
              <a:latin typeface="Helvetica Neue" panose="02000503000000020004"/>
              <a:ea typeface="Helvetica Neue" panose="02000503000000020004"/>
            </a:endParaRPr>
          </a:p>
          <a:p>
            <a:pPr marL="0" indent="0">
              <a:buNone/>
            </a:pPr>
            <a:r>
              <a:rPr lang="zh-CN" altLang="en-US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进行完整流程的</a:t>
            </a:r>
            <a:r>
              <a:rPr lang="zh-CN" altLang="en-US" b="0" i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</a:rPr>
              <a:t>转换</a:t>
            </a:r>
            <a:endParaRPr lang="zh-CN" altLang="en-US" b="0" i="0">
              <a:solidFill>
                <a:srgbClr val="000000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1227</Words>
  <Application>WPS 演示</Application>
  <PresentationFormat>宽屏</PresentationFormat>
  <Paragraphs>146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Helvetica Neue</vt:lpstr>
      <vt:lpstr>Menlo</vt:lpstr>
      <vt:lpstr>Arial</vt:lpstr>
      <vt:lpstr>苹方-简</vt:lpstr>
      <vt:lpstr>微软雅黑</vt:lpstr>
      <vt:lpstr>汉仪旗黑</vt:lpstr>
      <vt:lpstr>宋体</vt:lpstr>
      <vt:lpstr>Arial Unicode MS</vt:lpstr>
      <vt:lpstr>Helvetica Neue</vt:lpstr>
      <vt:lpstr>Menlo</vt:lpstr>
      <vt:lpstr>汉仪书宋二KW</vt:lpstr>
      <vt:lpstr>WPS</vt:lpstr>
      <vt:lpstr>bpmn2pertrinet2mcrl2</vt:lpstr>
      <vt:lpstr>BPMN → PNML（Web 模块）</vt:lpstr>
      <vt:lpstr>bpmn to petrinet</vt:lpstr>
      <vt:lpstr>PowerPoint 演示文稿</vt:lpstr>
      <vt:lpstr>PNML → mCRL2（本地转换）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柳晨曦</cp:lastModifiedBy>
  <cp:revision>183</cp:revision>
  <dcterms:created xsi:type="dcterms:W3CDTF">2026-05-12T03:10:53Z</dcterms:created>
  <dcterms:modified xsi:type="dcterms:W3CDTF">2026-05-12T03:10:53Z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3776B5F34F3800E842C6FD69E2C9DFB3_41</vt:lpwstr>
  </property>
</Properties>
</file>